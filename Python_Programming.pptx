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8" r:id="rId11"/>
    <p:sldId id="269" r:id="rId12"/>
    <p:sldId id="270" r:id="rId13"/>
    <p:sldId id="271" r:id="rId14"/>
    <p:sldId id="272" r:id="rId15"/>
    <p:sldId id="28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53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1103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30699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206240"/>
            <a:ext cx="4206240" cy="4206240"/>
          </a:xfrm>
          <a:prstGeom prst="ellipse">
            <a:avLst/>
          </a:prstGeom>
          <a:solidFill>
            <a:srgbClr val="FFD43B">
              <a:alpha val="22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29" y="870509"/>
            <a:ext cx="590702" cy="59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3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r>
              <a:rPr lang="en-US" sz="4400" b="1" kern="0" spc="3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5400" b="1" kern="0" spc="3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28803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0699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Python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261872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46304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a high-level, interpreted, general-purpose language created by Guido van Rossum in 1991. Known for simple syntax and readability, it supports procedural, object-oriented, and functional programming — and is widely used in web development, data science, AI/ML, automation, and game development.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0292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3547872"/>
            <a:ext cx="6217920" cy="731520"/>
          </a:xfrm>
          <a:prstGeom prst="roundRect">
            <a:avLst>
              <a:gd name="adj" fmla="val 10000"/>
            </a:avLst>
          </a:prstGeom>
          <a:solidFill>
            <a:srgbClr val="13233F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3657600"/>
            <a:ext cx="5815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print("Hello, World!")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4526280"/>
            <a:ext cx="2971800" cy="1965960"/>
          </a:xfrm>
          <a:prstGeom prst="roundRect">
            <a:avLst>
              <a:gd name="adj" fmla="val 2791"/>
            </a:avLst>
          </a:prstGeom>
          <a:solidFill>
            <a:srgbClr val="EAF7E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65429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46177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04088" y="4983480"/>
            <a:ext cx="260604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learn and read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standard library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independent &amp; free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749040" y="4526280"/>
            <a:ext cx="2971800" cy="1965960"/>
          </a:xfrm>
          <a:prstGeom prst="roundRect">
            <a:avLst>
              <a:gd name="adj" fmla="val 2791"/>
            </a:avLst>
          </a:prstGeom>
          <a:solidFill>
            <a:srgbClr val="FDECE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3632" y="465429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206240" y="46177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950208" y="4983480"/>
            <a:ext cx="260604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compiled languages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memory consumption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 limits multithreading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040880" y="1508760"/>
            <a:ext cx="4663440" cy="1417320"/>
          </a:xfrm>
          <a:prstGeom prst="roundRect">
            <a:avLst>
              <a:gd name="adj" fmla="val 5161"/>
            </a:avLst>
          </a:prstGeom>
          <a:solidFill>
            <a:srgbClr val="F3F6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269480" y="161848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1991</a:t>
            </a:r>
            <a:endParaRPr lang="en-US" sz="3400" dirty="0"/>
          </a:p>
        </p:txBody>
      </p:sp>
      <p:sp>
        <p:nvSpPr>
          <p:cNvPr id="21" name="Text 16"/>
          <p:cNvSpPr/>
          <p:nvPr/>
        </p:nvSpPr>
        <p:spPr>
          <a:xfrm>
            <a:off x="7269480" y="24048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released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040880" y="3108960"/>
            <a:ext cx="4663440" cy="1417320"/>
          </a:xfrm>
          <a:prstGeom prst="roundRect">
            <a:avLst>
              <a:gd name="adj" fmla="val 5161"/>
            </a:avLst>
          </a:prstGeom>
          <a:solidFill>
            <a:srgbClr val="F3F6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7269480" y="321868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3400" dirty="0"/>
          </a:p>
        </p:txBody>
      </p:sp>
      <p:sp>
        <p:nvSpPr>
          <p:cNvPr id="24" name="Text 19"/>
          <p:cNvSpPr/>
          <p:nvPr/>
        </p:nvSpPr>
        <p:spPr>
          <a:xfrm>
            <a:off x="7269480" y="40050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(TIOBE)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7269480" y="481888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400" dirty="0"/>
          </a:p>
        </p:txBody>
      </p:sp>
      <p:sp>
        <p:nvSpPr>
          <p:cNvPr id="28" name="Text 23"/>
          <p:cNvSpPr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43000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0699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of Python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261872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481328"/>
            <a:ext cx="5349240" cy="786384"/>
          </a:xfrm>
          <a:prstGeom prst="roundRect">
            <a:avLst>
              <a:gd name="adj" fmla="val 6977"/>
            </a:avLst>
          </a:prstGeom>
          <a:solidFill>
            <a:srgbClr val="F3F6FB"/>
          </a:solidFill>
          <a:ln/>
        </p:spPr>
      </p:sp>
      <p:sp>
        <p:nvSpPr>
          <p:cNvPr id="8" name="Shape 5"/>
          <p:cNvSpPr/>
          <p:nvPr/>
        </p:nvSpPr>
        <p:spPr>
          <a:xfrm>
            <a:off x="630936" y="1746504"/>
            <a:ext cx="256032" cy="256032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9" name="Text 6"/>
          <p:cNvSpPr/>
          <p:nvPr/>
        </p:nvSpPr>
        <p:spPr>
          <a:xfrm>
            <a:off x="630936" y="1746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05840" y="155448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Easy to Learn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readable syntax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26480" y="1481328"/>
            <a:ext cx="5349240" cy="786384"/>
          </a:xfrm>
          <a:prstGeom prst="roundRect">
            <a:avLst>
              <a:gd name="adj" fmla="val 6977"/>
            </a:avLst>
          </a:prstGeom>
          <a:solidFill>
            <a:srgbClr val="F3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6254496" y="1746504"/>
            <a:ext cx="256032" cy="256032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3" name="Text 10"/>
          <p:cNvSpPr/>
          <p:nvPr/>
        </p:nvSpPr>
        <p:spPr>
          <a:xfrm>
            <a:off x="6254496" y="1746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629400" y="155448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Interpreted Language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line by line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02920" y="2395728"/>
            <a:ext cx="5349240" cy="786384"/>
          </a:xfrm>
          <a:prstGeom prst="roundRect">
            <a:avLst>
              <a:gd name="adj" fmla="val 6977"/>
            </a:avLst>
          </a:prstGeom>
          <a:solidFill>
            <a:srgbClr val="F3F6FB"/>
          </a:solidFill>
          <a:ln/>
        </p:spPr>
      </p:sp>
      <p:sp>
        <p:nvSpPr>
          <p:cNvPr id="16" name="Shape 13"/>
          <p:cNvSpPr/>
          <p:nvPr/>
        </p:nvSpPr>
        <p:spPr>
          <a:xfrm>
            <a:off x="630936" y="2660904"/>
            <a:ext cx="256032" cy="256032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7" name="Text 14"/>
          <p:cNvSpPr/>
          <p:nvPr/>
        </p:nvSpPr>
        <p:spPr>
          <a:xfrm>
            <a:off x="630936" y="2660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05840" y="246888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memory management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126480" y="2395728"/>
            <a:ext cx="5349240" cy="786384"/>
          </a:xfrm>
          <a:prstGeom prst="roundRect">
            <a:avLst>
              <a:gd name="adj" fmla="val 6977"/>
            </a:avLst>
          </a:prstGeom>
          <a:solidFill>
            <a:srgbClr val="F3F6FB"/>
          </a:solidFill>
          <a:ln/>
        </p:spPr>
      </p:sp>
      <p:sp>
        <p:nvSpPr>
          <p:cNvPr id="20" name="Shape 17"/>
          <p:cNvSpPr/>
          <p:nvPr/>
        </p:nvSpPr>
        <p:spPr>
          <a:xfrm>
            <a:off x="6254496" y="2660904"/>
            <a:ext cx="256032" cy="256032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21" name="Text 18"/>
          <p:cNvSpPr/>
          <p:nvPr/>
        </p:nvSpPr>
        <p:spPr>
          <a:xfrm>
            <a:off x="6254496" y="2660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629400" y="246888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classes &amp; objects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02920" y="3310128"/>
            <a:ext cx="5349240" cy="786384"/>
          </a:xfrm>
          <a:prstGeom prst="roundRect">
            <a:avLst>
              <a:gd name="adj" fmla="val 6977"/>
            </a:avLst>
          </a:prstGeom>
          <a:solidFill>
            <a:srgbClr val="F3F6FB"/>
          </a:solidFill>
          <a:ln/>
        </p:spPr>
      </p:sp>
      <p:sp>
        <p:nvSpPr>
          <p:cNvPr id="24" name="Shape 21"/>
          <p:cNvSpPr/>
          <p:nvPr/>
        </p:nvSpPr>
        <p:spPr>
          <a:xfrm>
            <a:off x="630936" y="3575304"/>
            <a:ext cx="256032" cy="256032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25" name="Text 22"/>
          <p:cNvSpPr/>
          <p:nvPr/>
        </p:nvSpPr>
        <p:spPr>
          <a:xfrm>
            <a:off x="630936" y="3575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05840" y="338328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Windows, Linux, macOS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126480" y="3310128"/>
            <a:ext cx="5349240" cy="786384"/>
          </a:xfrm>
          <a:prstGeom prst="roundRect">
            <a:avLst>
              <a:gd name="adj" fmla="val 6977"/>
            </a:avLst>
          </a:prstGeom>
          <a:solidFill>
            <a:srgbClr val="F3F6FB"/>
          </a:solidFill>
          <a:ln/>
        </p:spPr>
      </p:sp>
      <p:sp>
        <p:nvSpPr>
          <p:cNvPr id="28" name="Shape 25"/>
          <p:cNvSpPr/>
          <p:nvPr/>
        </p:nvSpPr>
        <p:spPr>
          <a:xfrm>
            <a:off x="6254496" y="3575304"/>
            <a:ext cx="256032" cy="256032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29" name="Text 26"/>
          <p:cNvSpPr/>
          <p:nvPr/>
        </p:nvSpPr>
        <p:spPr>
          <a:xfrm>
            <a:off x="6254496" y="3575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629400" y="338328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freely available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502920" y="4224528"/>
            <a:ext cx="5349240" cy="786384"/>
          </a:xfrm>
          <a:prstGeom prst="roundRect">
            <a:avLst>
              <a:gd name="adj" fmla="val 6977"/>
            </a:avLst>
          </a:prstGeom>
          <a:solidFill>
            <a:srgbClr val="F3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30936" y="4489704"/>
            <a:ext cx="256032" cy="256032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3" name="Text 30"/>
          <p:cNvSpPr/>
          <p:nvPr/>
        </p:nvSpPr>
        <p:spPr>
          <a:xfrm>
            <a:off x="630936" y="4489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1005840" y="429768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Standard Library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modules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6126480" y="4224528"/>
            <a:ext cx="5349240" cy="786384"/>
          </a:xfrm>
          <a:prstGeom prst="roundRect">
            <a:avLst>
              <a:gd name="adj" fmla="val 6977"/>
            </a:avLst>
          </a:prstGeom>
          <a:solidFill>
            <a:srgbClr val="F3F6FB"/>
          </a:solidFill>
          <a:ln/>
        </p:spPr>
      </p:sp>
      <p:sp>
        <p:nvSpPr>
          <p:cNvPr id="36" name="Shape 33"/>
          <p:cNvSpPr/>
          <p:nvPr/>
        </p:nvSpPr>
        <p:spPr>
          <a:xfrm>
            <a:off x="6254496" y="4489704"/>
            <a:ext cx="256032" cy="256032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7" name="Text 34"/>
          <p:cNvSpPr/>
          <p:nvPr/>
        </p:nvSpPr>
        <p:spPr>
          <a:xfrm>
            <a:off x="6254496" y="4489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629400" y="429768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Typing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resolved at runtime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502920" y="5138928"/>
            <a:ext cx="5349240" cy="786384"/>
          </a:xfrm>
          <a:prstGeom prst="roundRect">
            <a:avLst>
              <a:gd name="adj" fmla="val 6977"/>
            </a:avLst>
          </a:prstGeom>
          <a:solidFill>
            <a:srgbClr val="F3F6FB"/>
          </a:solidFill>
          <a:ln/>
        </p:spPr>
      </p:sp>
      <p:sp>
        <p:nvSpPr>
          <p:cNvPr id="40" name="Shape 37"/>
          <p:cNvSpPr/>
          <p:nvPr/>
        </p:nvSpPr>
        <p:spPr>
          <a:xfrm>
            <a:off x="630936" y="5404104"/>
            <a:ext cx="256032" cy="256032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41" name="Text 38"/>
          <p:cNvSpPr/>
          <p:nvPr/>
        </p:nvSpPr>
        <p:spPr>
          <a:xfrm>
            <a:off x="630936" y="5404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1005840" y="521208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C, C++, Java</a:t>
            </a:r>
            <a:endParaRPr lang="en-US" sz="1250" dirty="0"/>
          </a:p>
        </p:txBody>
      </p:sp>
      <p:sp>
        <p:nvSpPr>
          <p:cNvPr id="43" name="Shape 40"/>
          <p:cNvSpPr/>
          <p:nvPr/>
        </p:nvSpPr>
        <p:spPr>
          <a:xfrm>
            <a:off x="6126480" y="5138928"/>
            <a:ext cx="5349240" cy="786384"/>
          </a:xfrm>
          <a:prstGeom prst="roundRect">
            <a:avLst>
              <a:gd name="adj" fmla="val 6977"/>
            </a:avLst>
          </a:prstGeom>
          <a:solidFill>
            <a:srgbClr val="F3F6FB"/>
          </a:solidFill>
          <a:ln/>
        </p:spPr>
      </p:sp>
      <p:sp>
        <p:nvSpPr>
          <p:cNvPr id="44" name="Shape 41"/>
          <p:cNvSpPr/>
          <p:nvPr/>
        </p:nvSpPr>
        <p:spPr>
          <a:xfrm>
            <a:off x="6254496" y="5404104"/>
            <a:ext cx="256032" cy="256032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45" name="Text 42"/>
          <p:cNvSpPr/>
          <p:nvPr/>
        </p:nvSpPr>
        <p:spPr>
          <a:xfrm>
            <a:off x="6254496" y="5404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6629400" y="521208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small scripts to large apps</a:t>
            </a:r>
            <a:endParaRPr lang="en-US" sz="1250" dirty="0"/>
          </a:p>
        </p:txBody>
      </p:sp>
      <p:sp>
        <p:nvSpPr>
          <p:cNvPr id="47" name="Text 44"/>
          <p:cNvSpPr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143000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0699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of Python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261872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41732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was developed by Guido van Rossum at CWI, Netherlands. Development began in the late 1980s; the name "Python" was inspired by the British comedy series Monty Python's Flying Circus — not the snake.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22960" y="3657600"/>
            <a:ext cx="10515600" cy="0"/>
          </a:xfrm>
          <a:prstGeom prst="line">
            <a:avLst/>
          </a:prstGeom>
          <a:noFill/>
          <a:ln w="25400">
            <a:solidFill>
              <a:srgbClr val="D8DEE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0664" y="3575304"/>
            <a:ext cx="164592" cy="164592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10" name="Text 7"/>
          <p:cNvSpPr/>
          <p:nvPr/>
        </p:nvSpPr>
        <p:spPr>
          <a:xfrm>
            <a:off x="228600" y="2697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1989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0" y="303580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started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843784" y="3575304"/>
            <a:ext cx="164592" cy="164592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13" name="Text 10"/>
          <p:cNvSpPr/>
          <p:nvPr/>
        </p:nvSpPr>
        <p:spPr>
          <a:xfrm>
            <a:off x="2331720" y="3840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1991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103120" y="418795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0.9.0 released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946904" y="3575304"/>
            <a:ext cx="164592" cy="164592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16" name="Text 13"/>
          <p:cNvSpPr/>
          <p:nvPr/>
        </p:nvSpPr>
        <p:spPr>
          <a:xfrm>
            <a:off x="4434840" y="2697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2000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206240" y="303580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2.0 introduced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050024" y="3575304"/>
            <a:ext cx="164592" cy="164592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19" name="Text 16"/>
          <p:cNvSpPr/>
          <p:nvPr/>
        </p:nvSpPr>
        <p:spPr>
          <a:xfrm>
            <a:off x="6537960" y="3840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2008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309360" y="418795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3.0 released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153144" y="3575304"/>
            <a:ext cx="164592" cy="164592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22" name="Text 19"/>
          <p:cNvSpPr/>
          <p:nvPr/>
        </p:nvSpPr>
        <p:spPr>
          <a:xfrm>
            <a:off x="8641080" y="2697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412480" y="303580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2 discontinued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1256264" y="3575304"/>
            <a:ext cx="164592" cy="164592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25" name="Text 22"/>
          <p:cNvSpPr/>
          <p:nvPr/>
        </p:nvSpPr>
        <p:spPr>
          <a:xfrm>
            <a:off x="10744200" y="3840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069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0515600" y="418795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 widely used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02920" y="4892040"/>
            <a:ext cx="5440680" cy="1600200"/>
          </a:xfrm>
          <a:prstGeom prst="roundRect">
            <a:avLst>
              <a:gd name="adj" fmla="val 3429"/>
            </a:avLst>
          </a:prstGeom>
          <a:solidFill>
            <a:srgbClr val="EAF7EE"/>
          </a:solidFill>
          <a:ln/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5020056"/>
            <a:ext cx="237744" cy="23774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960120" y="498348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704088" y="5349240"/>
            <a:ext cx="50749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 over decades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active community support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6217920" y="4892040"/>
            <a:ext cx="5440680" cy="1600200"/>
          </a:xfrm>
          <a:prstGeom prst="roundRect">
            <a:avLst>
              <a:gd name="adj" fmla="val 3429"/>
            </a:avLst>
          </a:prstGeom>
          <a:solidFill>
            <a:srgbClr val="FDECEC"/>
          </a:solidFill>
          <a:ln/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5020056"/>
            <a:ext cx="237744" cy="237744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675120" y="498348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6419088" y="5349240"/>
            <a:ext cx="50749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2→3 migration required code changes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older libraries were initially incompatible</a:t>
            </a:r>
            <a:endParaRPr lang="en-US" sz="1150" dirty="0"/>
          </a:p>
        </p:txBody>
      </p:sp>
      <p:sp>
        <p:nvSpPr>
          <p:cNvPr id="35" name="Text 30"/>
          <p:cNvSpPr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143000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0699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&amp; Identifiers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261872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417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173736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memory location used to store data. Python automatically assigns the data type based on the value.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2514600"/>
            <a:ext cx="5394960" cy="777240"/>
          </a:xfrm>
          <a:prstGeom prst="roundRect">
            <a:avLst>
              <a:gd name="adj" fmla="val 7619"/>
            </a:avLst>
          </a:prstGeom>
          <a:solidFill>
            <a:srgbClr val="13233F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624328"/>
            <a:ext cx="49926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"Diya"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36393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Variables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3950208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— inside a function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— outside all functions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— belongs to an object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— shared across all objects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263640" y="141732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63640" y="1737360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given to variables, functions, classes, and objects. Must begin with a letter or underscore, cannot start with a digit, cannot be a keyword, and are case-sensitive.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63640" y="283464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EAF7EE"/>
          </a:solidFill>
          <a:ln/>
        </p:spPr>
      </p:sp>
      <p:sp>
        <p:nvSpPr>
          <p:cNvPr id="16" name="Text 13"/>
          <p:cNvSpPr/>
          <p:nvPr/>
        </p:nvSpPr>
        <p:spPr>
          <a:xfrm>
            <a:off x="6446520" y="2907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46520" y="3200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student_name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_age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marks1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098280" y="283464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FDECEC"/>
          </a:solidFill>
          <a:ln/>
        </p:spPr>
      </p:sp>
      <p:sp>
        <p:nvSpPr>
          <p:cNvPr id="19" name="Text 16"/>
          <p:cNvSpPr/>
          <p:nvPr/>
        </p:nvSpPr>
        <p:spPr>
          <a:xfrm>
            <a:off x="9281160" y="2907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281160" y="3200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1name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my-name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263640" y="4297680"/>
            <a:ext cx="2583180" cy="1645920"/>
          </a:xfrm>
          <a:prstGeom prst="roundRect">
            <a:avLst>
              <a:gd name="adj" fmla="val 3333"/>
            </a:avLst>
          </a:prstGeom>
          <a:solidFill>
            <a:srgbClr val="EAF7EE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4425696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720840" y="4389120"/>
            <a:ext cx="20345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6464808" y="4754880"/>
            <a:ext cx="22174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data storage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typing, no declaration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9121140" y="4297680"/>
            <a:ext cx="2583180" cy="1645920"/>
          </a:xfrm>
          <a:prstGeom prst="roundRect">
            <a:avLst>
              <a:gd name="adj" fmla="val 3333"/>
            </a:avLst>
          </a:prstGeom>
          <a:solidFill>
            <a:srgbClr val="FDECEC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5732" y="4425696"/>
            <a:ext cx="237744" cy="23774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578340" y="4389120"/>
            <a:ext cx="20345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9322308" y="4754880"/>
            <a:ext cx="22174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typing may cause runtime errors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names reduce readability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43000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0699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 &amp; Their Types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261872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463040"/>
            <a:ext cx="3675888" cy="1051560"/>
          </a:xfrm>
          <a:prstGeom prst="roundRect">
            <a:avLst>
              <a:gd name="adj" fmla="val 6087"/>
            </a:avLst>
          </a:prstGeom>
          <a:solidFill>
            <a:srgbClr val="F3F6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1554480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5800" y="1901952"/>
            <a:ext cx="33101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-  *  /  %  //  **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15968" y="1463040"/>
            <a:ext cx="3675888" cy="1051560"/>
          </a:xfrm>
          <a:prstGeom prst="roundRect">
            <a:avLst>
              <a:gd name="adj" fmla="val 6087"/>
            </a:avLst>
          </a:prstGeom>
          <a:solidFill>
            <a:srgbClr val="F3F6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498848" y="1554480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498848" y="1901952"/>
            <a:ext cx="33101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 !=  &gt;  &lt;  &gt;=  &lt;=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29016" y="1463040"/>
            <a:ext cx="3675888" cy="1051560"/>
          </a:xfrm>
          <a:prstGeom prst="roundRect">
            <a:avLst>
              <a:gd name="adj" fmla="val 6087"/>
            </a:avLst>
          </a:prstGeom>
          <a:solidFill>
            <a:srgbClr val="F3F6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311896" y="1554480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311896" y="1901952"/>
            <a:ext cx="33101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 +=  -=  *=  /=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2651760"/>
            <a:ext cx="3675888" cy="1051560"/>
          </a:xfrm>
          <a:prstGeom prst="roundRect">
            <a:avLst>
              <a:gd name="adj" fmla="val 6087"/>
            </a:avLst>
          </a:prstGeom>
          <a:solidFill>
            <a:srgbClr val="F3F6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85800" y="2743200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85800" y="3090672"/>
            <a:ext cx="33101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  or   not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315968" y="2651760"/>
            <a:ext cx="3675888" cy="1051560"/>
          </a:xfrm>
          <a:prstGeom prst="roundRect">
            <a:avLst>
              <a:gd name="adj" fmla="val 6087"/>
            </a:avLst>
          </a:prstGeom>
          <a:solidFill>
            <a:srgbClr val="F3F6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498848" y="2743200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Bitwise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498848" y="3090672"/>
            <a:ext cx="33101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 |  ^  ~  &lt;&lt;  &gt;&gt;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129016" y="2651760"/>
            <a:ext cx="3675888" cy="1051560"/>
          </a:xfrm>
          <a:prstGeom prst="roundRect">
            <a:avLst>
              <a:gd name="adj" fmla="val 6087"/>
            </a:avLst>
          </a:prstGeom>
          <a:solidFill>
            <a:srgbClr val="F3F6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311896" y="2743200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8311896" y="3090672"/>
            <a:ext cx="33101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  not in   →  "p" in "python"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02920" y="3840480"/>
            <a:ext cx="3675888" cy="1051560"/>
          </a:xfrm>
          <a:prstGeom prst="roundRect">
            <a:avLst>
              <a:gd name="adj" fmla="val 6087"/>
            </a:avLst>
          </a:prstGeom>
          <a:solidFill>
            <a:srgbClr val="F3F6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85800" y="3931920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685800" y="4279392"/>
            <a:ext cx="33101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  is not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02920" y="562356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EAF7EE"/>
          </a:solidFill>
          <a:ln/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5751576"/>
            <a:ext cx="237744" cy="237744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960120" y="571500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704088" y="6080760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programming easier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math &amp; logic efficiently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6217920" y="562356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/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5751576"/>
            <a:ext cx="237744" cy="237744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675120" y="571500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6419088" y="6080760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usage → unexpected results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operators confuse beginners</a:t>
            </a:r>
            <a:endParaRPr lang="en-US" sz="1150" dirty="0"/>
          </a:p>
        </p:txBody>
      </p:sp>
      <p:sp>
        <p:nvSpPr>
          <p:cNvPr id="36" name="Text 31"/>
          <p:cNvSpPr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1143000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0699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06 &amp; 07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Management &amp; Garbage Collection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261872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417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1755648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automatically manages memory using a private heap. All objects and data structures live here; the Python Memory Manager allocates and deallocates memory automatically.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288036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3233F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990088"/>
            <a:ext cx="499262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[1, 2, 3]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memory auto-allocated for the list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794760"/>
            <a:ext cx="2560320" cy="2194560"/>
          </a:xfrm>
          <a:prstGeom prst="roundRect">
            <a:avLst>
              <a:gd name="adj" fmla="val 2500"/>
            </a:avLst>
          </a:prstGeom>
          <a:solidFill>
            <a:srgbClr val="EAF7E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92277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3886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04088" y="4251960"/>
            <a:ext cx="21945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allocation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memory errors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productivity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337560" y="3794760"/>
            <a:ext cx="2560320" cy="2194560"/>
          </a:xfrm>
          <a:prstGeom prst="roundRect">
            <a:avLst>
              <a:gd name="adj" fmla="val 2500"/>
            </a:avLst>
          </a:prstGeom>
          <a:solidFill>
            <a:srgbClr val="FDECE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392277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94760" y="3886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538728" y="4251960"/>
            <a:ext cx="21945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slower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more memory than low-level languages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263640" y="141732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Collection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263640" y="1755648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automatically deleting objects no longer in use. Python primarily uses reference counting plus a cyclic garbage collector to free unused memory.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263640" y="288036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13233F"/>
          </a:solidFill>
          <a:ln/>
        </p:spPr>
      </p:sp>
      <p:sp>
        <p:nvSpPr>
          <p:cNvPr id="22" name="Text 17"/>
          <p:cNvSpPr/>
          <p:nvPr/>
        </p:nvSpPr>
        <p:spPr>
          <a:xfrm>
            <a:off x="6464808" y="2990088"/>
            <a:ext cx="503834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2, 3]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a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263640" y="3794760"/>
            <a:ext cx="2583180" cy="2194560"/>
          </a:xfrm>
          <a:prstGeom prst="roundRect">
            <a:avLst>
              <a:gd name="adj" fmla="val 2500"/>
            </a:avLst>
          </a:prstGeom>
          <a:solidFill>
            <a:srgbClr val="EAF7EE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3922776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720840" y="3886200"/>
            <a:ext cx="20345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464808" y="4251960"/>
            <a:ext cx="22174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memory leaks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memory automatically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deallocation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9121140" y="3794760"/>
            <a:ext cx="2583180" cy="2194560"/>
          </a:xfrm>
          <a:prstGeom prst="roundRect">
            <a:avLst>
              <a:gd name="adj" fmla="val 2500"/>
            </a:avLst>
          </a:prstGeom>
          <a:solidFill>
            <a:srgbClr val="FDECEC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5732" y="3922776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578340" y="3886200"/>
            <a:ext cx="20345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9322308" y="4251960"/>
            <a:ext cx="22174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performance cost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 GC adds overhead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43000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0699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08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Translators &amp; Their Types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261872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417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translator converts source code into machine code so a computer can execute it. Python code is executed using an interpreter.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11680"/>
            <a:ext cx="3675888" cy="4114800"/>
          </a:xfrm>
          <a:prstGeom prst="roundRect">
            <a:avLst>
              <a:gd name="adj" fmla="val 1990"/>
            </a:avLst>
          </a:prstGeom>
          <a:solidFill>
            <a:srgbClr val="F3F6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219456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Compiler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31520" y="2606040"/>
            <a:ext cx="32186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entire program to machine code before execution (e.g. C, C++).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31520" y="3794760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" y="4041648"/>
            <a:ext cx="3218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execution; catches errors early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" y="4754880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31520" y="5001768"/>
            <a:ext cx="3218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takes time; needs recompiling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15968" y="2011680"/>
            <a:ext cx="3675888" cy="4114800"/>
          </a:xfrm>
          <a:prstGeom prst="roundRect">
            <a:avLst>
              <a:gd name="adj" fmla="val 1990"/>
            </a:avLst>
          </a:prstGeom>
          <a:solidFill>
            <a:srgbClr val="30699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544568" y="219456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Interpreter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544568" y="2606040"/>
            <a:ext cx="32186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9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uses this — translates &amp; executes one line at a time.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44568" y="3794760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44568" y="4041648"/>
            <a:ext cx="3218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debugging; runs immediately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44568" y="4754880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44568" y="5001768"/>
            <a:ext cx="3218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Slower; errors found only at runtime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129016" y="2011680"/>
            <a:ext cx="3675888" cy="4114800"/>
          </a:xfrm>
          <a:prstGeom prst="roundRect">
            <a:avLst>
              <a:gd name="adj" fmla="val 1990"/>
            </a:avLst>
          </a:prstGeom>
          <a:solidFill>
            <a:srgbClr val="F3F6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357616" y="219456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Assembler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8357616" y="2606040"/>
            <a:ext cx="32186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assembly language into machine language.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8357616" y="3794760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357616" y="4041648"/>
            <a:ext cx="3218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translation; direct machine code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357616" y="4754880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357616" y="5001768"/>
            <a:ext cx="3218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assembly; hard to write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43000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0699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09 &amp; 10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Comments &amp; Conditional Statements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261872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417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175564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added to code to improve readability; ignored by the interpreter.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22402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3233F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350008"/>
            <a:ext cx="499262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Single-line comment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Multi-line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794760"/>
            <a:ext cx="2560320" cy="1005840"/>
          </a:xfrm>
          <a:prstGeom prst="roundRect">
            <a:avLst>
              <a:gd name="adj" fmla="val 5455"/>
            </a:avLst>
          </a:prstGeom>
          <a:solidFill>
            <a:srgbClr val="EAF7E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92277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3886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04088" y="425196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understanding &amp; maintenance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337560" y="3794760"/>
            <a:ext cx="2560320" cy="1005840"/>
          </a:xfrm>
          <a:prstGeom prst="roundRect">
            <a:avLst>
              <a:gd name="adj" fmla="val 5455"/>
            </a:avLst>
          </a:prstGeom>
          <a:solidFill>
            <a:srgbClr val="FDECE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392277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94760" y="3886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538728" y="425196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comments clutter code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263640" y="141732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Statements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263640" y="1755648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 program make decisions based on whether a condition is True or False: if, if-else, if-elif-else, and nested if.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63640" y="2450592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13233F"/>
          </a:solidFill>
          <a:ln/>
        </p:spPr>
      </p:sp>
      <p:sp>
        <p:nvSpPr>
          <p:cNvPr id="22" name="Text 17"/>
          <p:cNvSpPr/>
          <p:nvPr/>
        </p:nvSpPr>
        <p:spPr>
          <a:xfrm>
            <a:off x="6464808" y="2560320"/>
            <a:ext cx="503834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75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marks &gt;= 90: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print("Grade A")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marks &gt;= 75: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print("Grade B")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print("Grade C")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263640" y="4224528"/>
            <a:ext cx="2583180" cy="1417320"/>
          </a:xfrm>
          <a:prstGeom prst="roundRect">
            <a:avLst>
              <a:gd name="adj" fmla="val 3871"/>
            </a:avLst>
          </a:prstGeom>
          <a:solidFill>
            <a:srgbClr val="EAF7EE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4352544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720840" y="4315968"/>
            <a:ext cx="20345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464808" y="4681728"/>
            <a:ext cx="22174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decision-making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flexibility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9121140" y="4224528"/>
            <a:ext cx="2583180" cy="1417320"/>
          </a:xfrm>
          <a:prstGeom prst="roundRect">
            <a:avLst>
              <a:gd name="adj" fmla="val 3871"/>
            </a:avLst>
          </a:prstGeom>
          <a:solidFill>
            <a:srgbClr val="FDECEC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5732" y="4352544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578340" y="4315968"/>
            <a:ext cx="20345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9322308" y="4681728"/>
            <a:ext cx="22174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nesting hurts readability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43000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0699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Statements: break, continue, pass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261872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481328"/>
            <a:ext cx="3675888" cy="4434840"/>
          </a:xfrm>
          <a:prstGeom prst="roundRect">
            <a:avLst>
              <a:gd name="adj" fmla="val 1990"/>
            </a:avLst>
          </a:prstGeom>
          <a:solidFill>
            <a:srgbClr val="F3F6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04088" y="1664208"/>
            <a:ext cx="457200" cy="457200"/>
          </a:xfrm>
          <a:prstGeom prst="ellipse">
            <a:avLst/>
          </a:prstGeom>
          <a:solidFill>
            <a:srgbClr val="30699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171907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1700784"/>
            <a:ext cx="2761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04088" y="2212848"/>
            <a:ext cx="3273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terminates the loop when a condition is met.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04088" y="2834640"/>
            <a:ext cx="3273552" cy="1371600"/>
          </a:xfrm>
          <a:prstGeom prst="roundRect">
            <a:avLst>
              <a:gd name="adj" fmla="val 5333"/>
            </a:avLst>
          </a:prstGeom>
          <a:solidFill>
            <a:srgbClr val="13233F"/>
          </a:solidFill>
          <a:ln/>
        </p:spPr>
      </p:sp>
      <p:sp>
        <p:nvSpPr>
          <p:cNvPr id="13" name="Text 9"/>
          <p:cNvSpPr/>
          <p:nvPr/>
        </p:nvSpPr>
        <p:spPr>
          <a:xfrm>
            <a:off x="905256" y="2944368"/>
            <a:ext cx="28712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 11):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== 6: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04088" y="4315968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1 2 3 4 5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04088" y="4709160"/>
            <a:ext cx="3273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unneeded iterations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efficiency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315968" y="1481328"/>
            <a:ext cx="3675888" cy="4434840"/>
          </a:xfrm>
          <a:prstGeom prst="roundRect">
            <a:avLst>
              <a:gd name="adj" fmla="val 1990"/>
            </a:avLst>
          </a:prstGeom>
          <a:solidFill>
            <a:srgbClr val="F3F6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17136" y="1664208"/>
            <a:ext cx="457200" cy="457200"/>
          </a:xfrm>
          <a:prstGeom prst="ellipse">
            <a:avLst/>
          </a:prstGeom>
          <a:solidFill>
            <a:srgbClr val="30699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719072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93208" y="1700784"/>
            <a:ext cx="2761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continue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4517136" y="2212848"/>
            <a:ext cx="3273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the current iteration, moves to the next.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517136" y="2834640"/>
            <a:ext cx="3273552" cy="1371600"/>
          </a:xfrm>
          <a:prstGeom prst="roundRect">
            <a:avLst>
              <a:gd name="adj" fmla="val 5333"/>
            </a:avLst>
          </a:prstGeom>
          <a:solidFill>
            <a:srgbClr val="13233F"/>
          </a:solidFill>
          <a:ln/>
        </p:spPr>
      </p:sp>
      <p:sp>
        <p:nvSpPr>
          <p:cNvPr id="22" name="Text 17"/>
          <p:cNvSpPr/>
          <p:nvPr/>
        </p:nvSpPr>
        <p:spPr>
          <a:xfrm>
            <a:off x="4718304" y="2944368"/>
            <a:ext cx="28712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 6):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== 3: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517136" y="4315968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1 2 4 5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4517136" y="4709160"/>
            <a:ext cx="3273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unwanted iterations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loops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8129016" y="1481328"/>
            <a:ext cx="3675888" cy="4434840"/>
          </a:xfrm>
          <a:prstGeom prst="roundRect">
            <a:avLst>
              <a:gd name="adj" fmla="val 1990"/>
            </a:avLst>
          </a:prstGeom>
          <a:solidFill>
            <a:srgbClr val="F3F6F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330184" y="1664208"/>
            <a:ext cx="457200" cy="457200"/>
          </a:xfrm>
          <a:prstGeom prst="ellipse">
            <a:avLst/>
          </a:prstGeom>
          <a:solidFill>
            <a:srgbClr val="30699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1719072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906256" y="1700784"/>
            <a:ext cx="2761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8330184" y="2212848"/>
            <a:ext cx="3273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null statement — a placeholder that does nothing.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8330184" y="2834640"/>
            <a:ext cx="3273552" cy="1371600"/>
          </a:xfrm>
          <a:prstGeom prst="roundRect">
            <a:avLst>
              <a:gd name="adj" fmla="val 5333"/>
            </a:avLst>
          </a:prstGeom>
          <a:solidFill>
            <a:srgbClr val="13233F"/>
          </a:solidFill>
          <a:ln/>
        </p:spPr>
      </p:sp>
      <p:sp>
        <p:nvSpPr>
          <p:cNvPr id="31" name="Text 25"/>
          <p:cNvSpPr/>
          <p:nvPr/>
        </p:nvSpPr>
        <p:spPr>
          <a:xfrm>
            <a:off x="8531352" y="2944368"/>
            <a:ext cx="28712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True: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8330184" y="4315968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069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(no output)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8330184" y="4709160"/>
            <a:ext cx="3273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syntax errors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for future code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43000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0699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Loops: for, while &amp; Nested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261872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4173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02920" y="171907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over sequences (lists, tuples, strings, ranges) — best for known iterations.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233172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13233F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441448"/>
            <a:ext cx="31638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range(1,6):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297680" y="14173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297680" y="171907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as long as a condition remains True — useful when iterations are unknown.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97680" y="233172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13233F"/>
          </a:solidFill>
          <a:ln/>
        </p:spPr>
      </p:sp>
      <p:sp>
        <p:nvSpPr>
          <p:cNvPr id="14" name="Text 11"/>
          <p:cNvSpPr/>
          <p:nvPr/>
        </p:nvSpPr>
        <p:spPr>
          <a:xfrm>
            <a:off x="4498848" y="2441448"/>
            <a:ext cx="3163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1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i &lt;= 5: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+= 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092440" y="141732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Loop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092440" y="171907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inside another loop — useful for matrices and patterns.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92440" y="2331720"/>
            <a:ext cx="3611880" cy="1097280"/>
          </a:xfrm>
          <a:prstGeom prst="roundRect">
            <a:avLst>
              <a:gd name="adj" fmla="val 6667"/>
            </a:avLst>
          </a:prstGeom>
          <a:solidFill>
            <a:srgbClr val="13233F"/>
          </a:solidFill>
          <a:ln/>
        </p:spPr>
      </p:sp>
      <p:sp>
        <p:nvSpPr>
          <p:cNvPr id="18" name="Text 15"/>
          <p:cNvSpPr/>
          <p:nvPr/>
        </p:nvSpPr>
        <p:spPr>
          <a:xfrm>
            <a:off x="8293608" y="2441448"/>
            <a:ext cx="32095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range(3):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j in range(3):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print(i, j)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02920" y="3703320"/>
            <a:ext cx="5463540" cy="2148840"/>
          </a:xfrm>
          <a:prstGeom prst="roundRect">
            <a:avLst>
              <a:gd name="adj" fmla="val 2553"/>
            </a:avLst>
          </a:prstGeom>
          <a:solidFill>
            <a:srgbClr val="EAF7EE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831336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60120" y="3794760"/>
            <a:ext cx="49149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704088" y="4160520"/>
            <a:ext cx="509778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easy, best for known iterations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while: suits unknown/user-controlled loops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code repetition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240780" y="3703320"/>
            <a:ext cx="5463540" cy="2148840"/>
          </a:xfrm>
          <a:prstGeom prst="roundRect">
            <a:avLst>
              <a:gd name="adj" fmla="val 2553"/>
            </a:avLst>
          </a:prstGeom>
          <a:solidFill>
            <a:srgbClr val="FDECEC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5372" y="3831336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697980" y="3794760"/>
            <a:ext cx="49149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441948" y="4160520"/>
            <a:ext cx="509778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less flexible for unknown counts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while: risk of infinite loops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loops increase execution time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43000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0699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261872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4173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ordered, mutable collection that allows duplicate values, enclosed in square brackets [ ].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196596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3233F"/>
          </a:solidFill>
          <a:ln/>
        </p:spPr>
      </p:sp>
      <p:sp>
        <p:nvSpPr>
          <p:cNvPr id="9" name="Text 6"/>
          <p:cNvSpPr/>
          <p:nvPr/>
        </p:nvSpPr>
        <p:spPr>
          <a:xfrm>
            <a:off x="704088" y="2075688"/>
            <a:ext cx="499262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 = ["Apple", "Banana", "Mango"]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print(fruits)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2920" y="285292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Characteristics: Ordered · Mutable · Allows duplicates · Mixed data types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3429000"/>
            <a:ext cx="2560320" cy="2651760"/>
          </a:xfrm>
          <a:prstGeom prst="roundRect">
            <a:avLst>
              <a:gd name="adj" fmla="val 2143"/>
            </a:avLst>
          </a:prstGeom>
          <a:solidFill>
            <a:srgbClr val="EAF7E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55701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3520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04088" y="3886200"/>
            <a:ext cx="219456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modify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indexing &amp; slicing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multiple data types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337560" y="3429000"/>
            <a:ext cx="2560320" cy="2651760"/>
          </a:xfrm>
          <a:prstGeom prst="roundRect">
            <a:avLst>
              <a:gd name="adj" fmla="val 2143"/>
            </a:avLst>
          </a:prstGeom>
          <a:solidFill>
            <a:srgbClr val="FDECE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355701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94760" y="3520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538728" y="3886200"/>
            <a:ext cx="219456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more memory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tuples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Accidental modification possible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263640" y="14173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Methods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737360"/>
          <a:ext cx="5440680" cy="3072384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an element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Inserts at position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an element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by index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Sorts the 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Reverses the 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all elements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" name="Shape 15"/>
          <p:cNvSpPr/>
          <p:nvPr/>
        </p:nvSpPr>
        <p:spPr>
          <a:xfrm>
            <a:off x="6263640" y="466344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13233F"/>
          </a:solidFill>
          <a:ln/>
        </p:spPr>
      </p:sp>
      <p:sp>
        <p:nvSpPr>
          <p:cNvPr id="22" name="Text 16"/>
          <p:cNvSpPr/>
          <p:nvPr/>
        </p:nvSpPr>
        <p:spPr>
          <a:xfrm>
            <a:off x="6464808" y="4773168"/>
            <a:ext cx="503834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[10, 20, 30]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numbers.append(40)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print(numbers)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43000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0699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261872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of characters in single, double, or triple quotes. Strings are immutable — they cannot be changed after creation.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01168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2304288"/>
            <a:ext cx="2724912" cy="868680"/>
          </a:xfrm>
          <a:prstGeom prst="roundRect">
            <a:avLst>
              <a:gd name="adj" fmla="val 8421"/>
            </a:avLst>
          </a:prstGeom>
          <a:solidFill>
            <a:srgbClr val="13233F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414016"/>
            <a:ext cx="232257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a="Hello"; b="World"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print(a+b)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322783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HelloWorld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319272" y="201168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319272" y="2304288"/>
            <a:ext cx="2724912" cy="868680"/>
          </a:xfrm>
          <a:prstGeom prst="roundRect">
            <a:avLst>
              <a:gd name="adj" fmla="val 8421"/>
            </a:avLst>
          </a:prstGeom>
          <a:solidFill>
            <a:srgbClr val="13233F"/>
          </a:solidFill>
          <a:ln/>
        </p:spPr>
      </p:sp>
      <p:sp>
        <p:nvSpPr>
          <p:cNvPr id="14" name="Text 11"/>
          <p:cNvSpPr/>
          <p:nvPr/>
        </p:nvSpPr>
        <p:spPr>
          <a:xfrm>
            <a:off x="3520440" y="2414016"/>
            <a:ext cx="232257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print("Hi"*3)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319272" y="322783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HiHiHi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35624" y="201168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135624" y="2304288"/>
            <a:ext cx="2724912" cy="868680"/>
          </a:xfrm>
          <a:prstGeom prst="roundRect">
            <a:avLst>
              <a:gd name="adj" fmla="val 8421"/>
            </a:avLst>
          </a:prstGeom>
          <a:solidFill>
            <a:srgbClr val="13233F"/>
          </a:solidFill>
          <a:ln/>
        </p:spPr>
      </p:sp>
      <p:sp>
        <p:nvSpPr>
          <p:cNvPr id="18" name="Text 15"/>
          <p:cNvSpPr/>
          <p:nvPr/>
        </p:nvSpPr>
        <p:spPr>
          <a:xfrm>
            <a:off x="6336792" y="2414016"/>
            <a:ext cx="232257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text="Python"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print(text[0])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135624" y="322783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951976" y="201168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951976" y="2304288"/>
            <a:ext cx="2724912" cy="868680"/>
          </a:xfrm>
          <a:prstGeom prst="roundRect">
            <a:avLst>
              <a:gd name="adj" fmla="val 8421"/>
            </a:avLst>
          </a:prstGeom>
          <a:solidFill>
            <a:srgbClr val="13233F"/>
          </a:solidFill>
          <a:ln/>
        </p:spPr>
      </p:sp>
      <p:sp>
        <p:nvSpPr>
          <p:cNvPr id="22" name="Text 19"/>
          <p:cNvSpPr/>
          <p:nvPr/>
        </p:nvSpPr>
        <p:spPr>
          <a:xfrm>
            <a:off x="9153144" y="2414016"/>
            <a:ext cx="232257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print(text[1:4])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951976" y="322783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yth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02920" y="3703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Methods:  upper() · lower() · replace() · split() · strip() · find() · count()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02920" y="4206240"/>
            <a:ext cx="5440680" cy="1737360"/>
          </a:xfrm>
          <a:prstGeom prst="roundRect">
            <a:avLst>
              <a:gd name="adj" fmla="val 3158"/>
            </a:avLst>
          </a:prstGeom>
          <a:solidFill>
            <a:srgbClr val="EAF7EE"/>
          </a:solidFill>
          <a:ln/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334256"/>
            <a:ext cx="237744" cy="23774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960120" y="429768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704088" y="4663440"/>
            <a:ext cx="5074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text manipulation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built-in methods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Unicode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6217920" y="4206240"/>
            <a:ext cx="5440680" cy="1737360"/>
          </a:xfrm>
          <a:prstGeom prst="roundRect">
            <a:avLst>
              <a:gd name="adj" fmla="val 3158"/>
            </a:avLst>
          </a:prstGeom>
          <a:solidFill>
            <a:srgbClr val="FDECEC"/>
          </a:solidFill>
          <a:ln/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4334256"/>
            <a:ext cx="237744" cy="23774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675120" y="429768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6419088" y="4663440"/>
            <a:ext cx="5074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strings consume more memory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143000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30699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217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Tuples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261872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41732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ordered collection enclosed in parentheses ( ). Unlike lists, tuples are immutable — values cannot change after creation.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14884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3233F"/>
          </a:solidFill>
          <a:ln/>
        </p:spPr>
      </p:sp>
      <p:sp>
        <p:nvSpPr>
          <p:cNvPr id="9" name="Text 6"/>
          <p:cNvSpPr/>
          <p:nvPr/>
        </p:nvSpPr>
        <p:spPr>
          <a:xfrm>
            <a:off x="704088" y="2258568"/>
            <a:ext cx="499262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= ("Diya", 22, “MCA")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2920" y="303580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Characteristics: Ordered · Immutable · Allows duplicates · Faster than lists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3520440"/>
            <a:ext cx="2560320" cy="2560320"/>
          </a:xfrm>
          <a:prstGeom prst="roundRect">
            <a:avLst>
              <a:gd name="adj" fmla="val 2143"/>
            </a:avLst>
          </a:prstGeom>
          <a:solidFill>
            <a:srgbClr val="EAF7E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64845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3611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04088" y="3977640"/>
            <a:ext cx="219456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lists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less memory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from modification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as dict keys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337560" y="3520440"/>
            <a:ext cx="2560320" cy="2560320"/>
          </a:xfrm>
          <a:prstGeom prst="roundRect">
            <a:avLst>
              <a:gd name="adj" fmla="val 2143"/>
            </a:avLst>
          </a:prstGeom>
          <a:solidFill>
            <a:srgbClr val="FDECE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364845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94760" y="3611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538728" y="3977640"/>
            <a:ext cx="219456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modified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built-in methods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flexible than lists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263640" y="14173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069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Methods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63640" y="178308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count()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263640" y="2103120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13233F"/>
          </a:solidFill>
          <a:ln/>
        </p:spPr>
      </p:sp>
      <p:sp>
        <p:nvSpPr>
          <p:cNvPr id="22" name="Text 17"/>
          <p:cNvSpPr/>
          <p:nvPr/>
        </p:nvSpPr>
        <p:spPr>
          <a:xfrm>
            <a:off x="6464808" y="2212848"/>
            <a:ext cx="5038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(1, 2, 2, 3)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print(numbers.count(2))  # 2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263640" y="29718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index()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263640" y="3291840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13233F"/>
          </a:solidFill>
          <a:ln/>
        </p:spPr>
      </p:sp>
      <p:sp>
        <p:nvSpPr>
          <p:cNvPr id="25" name="Text 20"/>
          <p:cNvSpPr/>
          <p:nvPr/>
        </p:nvSpPr>
        <p:spPr>
          <a:xfrm>
            <a:off x="6464808" y="3401568"/>
            <a:ext cx="5038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(10, 20, 30)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9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print(numbers.index(20))  # 1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43000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029200" cy="5029200"/>
          </a:xfrm>
          <a:prstGeom prst="ellipse">
            <a:avLst/>
          </a:prstGeom>
          <a:solidFill>
            <a:srgbClr val="30699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840480"/>
            <a:ext cx="4572000" cy="4572000"/>
          </a:xfrm>
          <a:prstGeom prst="ellipse">
            <a:avLst/>
          </a:prstGeom>
          <a:solidFill>
            <a:srgbClr val="FFD43B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49240" y="1920240"/>
            <a:ext cx="914400" cy="914400"/>
          </a:xfrm>
          <a:prstGeom prst="ellipse">
            <a:avLst/>
          </a:prstGeom>
          <a:solidFill>
            <a:srgbClr val="30699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968" y="2029968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063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1528</Words>
  <Application>Microsoft Office PowerPoint</Application>
  <PresentationFormat>Widescreen</PresentationFormat>
  <Paragraphs>371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 – A Complete Guide</dc:title>
  <dc:subject>PptxGenJS Presentation</dc:subject>
  <dc:creator>Python Study Deck</dc:creator>
  <cp:lastModifiedBy>Diya Jaiby</cp:lastModifiedBy>
  <cp:revision>16</cp:revision>
  <dcterms:created xsi:type="dcterms:W3CDTF">2026-07-07T04:16:31Z</dcterms:created>
  <dcterms:modified xsi:type="dcterms:W3CDTF">2026-07-07T12:24:37Z</dcterms:modified>
</cp:coreProperties>
</file>